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0" y="347472"/>
            <a:ext cx="638525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等线"/>
                <a:ea typeface="等线"/>
              </a:rPr>
              <a:t>arXiv:2411.16697 [cs.DC] · 2024.11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74519"/>
            <a:ext cx="11185855" cy="1874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等线"/>
                <a:ea typeface="等线"/>
              </a:rPr>
              <a:t>《Dynamic Resource Manager for Automating Deployments in the Computing Continuum》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041648"/>
            <a:ext cx="9814255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等线"/>
                <a:ea typeface="等线"/>
              </a:rPr>
              <a:t>面向计算连续体的动态资源管理器：跨云、雾、边、端的自动化部署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577840"/>
            <a:ext cx="981425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等线"/>
                <a:ea typeface="等线"/>
              </a:rPr>
              <a:t>Zahra Najafabadi Samani 等 · University of Innsbruck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984687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000000"/>
                </a:solidFill>
                <a:latin typeface="等线"/>
                <a:ea typeface="等线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36192"/>
            <a:ext cx="10984687" cy="692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3200" b="0">
                <a:solidFill>
                  <a:srgbClr val="000000"/>
                </a:solidFill>
                <a:latin typeface="等线"/>
                <a:ea typeface="等线"/>
              </a:rPr>
              <a:t>从云到端：</a:t>
            </a:r>
            <a:r>
              <a:rPr sz="3200" b="0">
                <a:solidFill>
                  <a:srgbClr val="FF0000"/>
                </a:solidFill>
                <a:latin typeface="等线"/>
                <a:ea typeface="等线"/>
              </a:rPr>
              <a:t>计算连续体</a:t>
            </a:r>
            <a:r>
              <a:rPr sz="3200" b="0">
                <a:solidFill>
                  <a:srgbClr val="000000"/>
                </a:solidFill>
                <a:latin typeface="等线"/>
                <a:ea typeface="等线"/>
              </a:rPr>
              <a:t>（Computing Continuum）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5408"/>
            <a:ext cx="10984687" cy="40436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等线"/>
                <a:ea typeface="等线"/>
              </a:rPr>
              <a:t>背景</a:t>
            </a:r>
            <a:r>
              <a:rPr sz="2200" b="0">
                <a:solidFill>
                  <a:srgbClr val="000000"/>
                </a:solidFill>
                <a:latin typeface="等线"/>
                <a:ea typeface="等线"/>
              </a:rPr>
              <a:t>：IoT 与实时应用把计算从云端下沉到边缘，形成云、雾、边、端一体的异构资源池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等线"/>
                <a:ea typeface="等线"/>
              </a:rPr>
              <a:t>特点</a:t>
            </a:r>
            <a:r>
              <a:rPr sz="2200" b="0">
                <a:solidFill>
                  <a:srgbClr val="000000"/>
                </a:solidFill>
                <a:latin typeface="等线"/>
                <a:ea typeface="等线"/>
              </a:rPr>
              <a:t>：硬件异构（NUC / 树莓派 / 云主机）、平台异构（OpenFaaS / K8s / Lambda / EC2）、网络时延相差一个量级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等线"/>
                <a:ea typeface="等线"/>
              </a:rPr>
              <a:t>目标</a:t>
            </a:r>
            <a:r>
              <a:rPr sz="2200" b="0">
                <a:solidFill>
                  <a:srgbClr val="000000"/>
                </a:solidFill>
                <a:latin typeface="等线"/>
                <a:ea typeface="等线"/>
              </a:rPr>
              <a:t>：让应用</a:t>
            </a:r>
            <a:r>
              <a:rPr sz="2200" b="0">
                <a:solidFill>
                  <a:srgbClr val="FF0000"/>
                </a:solidFill>
                <a:latin typeface="等线"/>
                <a:ea typeface="等线"/>
              </a:rPr>
              <a:t>按 SLO 选资源、自动部署、违约即重调度</a:t>
            </a:r>
            <a:r>
              <a:rPr sz="2200" b="0">
                <a:solidFill>
                  <a:srgbClr val="000000"/>
                </a:solidFill>
                <a:latin typeface="等线"/>
                <a:ea typeface="等线"/>
              </a:rPr>
              <a:t>，而不是为每个平台各写一套脚本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等线"/>
                <a:ea typeface="等线"/>
              </a:rPr>
              <a:t>挑战一</a:t>
            </a:r>
            <a:r>
              <a:rPr sz="2200" b="0">
                <a:solidFill>
                  <a:srgbClr val="000000"/>
                </a:solidFill>
                <a:latin typeface="等线"/>
                <a:ea typeface="等线"/>
              </a:rPr>
              <a:t>：一套管理器如何同时驱动四类异构平台，并把部署时延压到可接受范围？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等线"/>
                <a:ea typeface="等线"/>
              </a:rPr>
              <a:t>挑战二</a:t>
            </a:r>
            <a:r>
              <a:rPr sz="2200" b="0">
                <a:solidFill>
                  <a:srgbClr val="000000"/>
                </a:solidFill>
                <a:latin typeface="等线"/>
                <a:ea typeface="等线"/>
              </a:rPr>
              <a:t>：部署完成之后，</a:t>
            </a:r>
            <a:r>
              <a:rPr sz="2200" b="0">
                <a:solidFill>
                  <a:srgbClr val="FF0000"/>
                </a:solidFill>
                <a:latin typeface="等线"/>
                <a:ea typeface="等线"/>
              </a:rPr>
              <a:t>谁来持续守着 SLO</a:t>
            </a:r>
            <a:r>
              <a:rPr sz="2200" b="0">
                <a:solidFill>
                  <a:srgbClr val="000000"/>
                </a:solidFill>
                <a:latin typeface="等线"/>
                <a:ea typeface="等线"/>
              </a:rPr>
              <a:t>，在违约发生的第一时间发现并纠正？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984687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000000"/>
                </a:solidFill>
                <a:latin typeface="等线"/>
                <a:ea typeface="等线"/>
              </a:rPr>
              <a:t>研究现状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72768"/>
            <a:ext cx="3387242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等线"/>
                <a:ea typeface="等线"/>
              </a:rPr>
              <a:t>云侧资源管理器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20646"/>
            <a:ext cx="3387242" cy="35669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2400" b="0">
                <a:solidFill>
                  <a:srgbClr val="000000"/>
                </a:solidFill>
                <a:latin typeface="等线"/>
                <a:ea typeface="等线"/>
              </a:rPr>
              <a:t>Xioadi 等[6]：微服务化 RM，用内存数据网格打破共享存储瓶颈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2400" b="0">
                <a:solidFill>
                  <a:srgbClr val="000000"/>
                </a:solidFill>
                <a:latin typeface="等线"/>
                <a:ea typeface="等线"/>
              </a:rPr>
              <a:t>Aspir[5]：多云统一层，按客户约束选资源</a:t>
            </a:r>
          </a:p>
          <a:p>
            <a:pPr algn="l" marL="0" indent="0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2400" b="0">
                <a:solidFill>
                  <a:srgbClr val="FF0000"/>
                </a:solidFill>
                <a:latin typeface="等线"/>
                <a:ea typeface="等线"/>
              </a:rPr>
              <a:t>缺陷：不处理 SLO 违约；不支持 Serverless 与容器化应用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39970" y="1572768"/>
            <a:ext cx="3387242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等线"/>
                <a:ea typeface="等线"/>
              </a:rPr>
              <a:t>边缘侧资源管理器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39970" y="2120646"/>
            <a:ext cx="3387242" cy="35669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等线"/>
                <a:ea typeface="等线"/>
              </a:rPr>
              <a:t>Wang 等[9]：节点 + 服务器两级管理器，按优先级准入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等线"/>
                <a:ea typeface="等线"/>
              </a:rPr>
              <a:t>Abuibaid 等[10]：面向故障恢复的动态重调度</a:t>
            </a:r>
          </a:p>
          <a:p>
            <a:pPr algn="l" marL="0" indent="0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2200" b="0">
                <a:solidFill>
                  <a:srgbClr val="FF0000"/>
                </a:solidFill>
                <a:latin typeface="等线"/>
                <a:ea typeface="等线"/>
              </a:rPr>
              <a:t>缺陷：缺少监控与节点故障处理；无自动化基础设施部署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8692" y="1572768"/>
            <a:ext cx="3387242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等线"/>
                <a:ea typeface="等线"/>
              </a:rPr>
              <a:t>连续体资源管理器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8692" y="2120646"/>
            <a:ext cx="3387242" cy="35669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Morichetta[3]：三层意图驱动，面向 Serverless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Caballer[4]：IaC + K8s 编排；Jansen[11]：多环境自动部署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Samani[8,12]：按 SLO 聚类降浪费；Tusa[13]：图模型 + 优化选资源</a:t>
            </a:r>
          </a:p>
          <a:p>
            <a:pPr algn="l" marL="0" indent="0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F0000"/>
                </a:solidFill>
                <a:latin typeface="等线"/>
                <a:ea typeface="等线"/>
              </a:rPr>
              <a:t>缺陷：不能识别/处置 SLO 违约与应用故障；部分不支持 Serverless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52159"/>
            <a:ext cx="10984687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等线"/>
                <a:ea typeface="等线"/>
              </a:rPr>
              <a:t>共同局限</a:t>
            </a:r>
            <a:r>
              <a:rPr sz="1700" b="0">
                <a:solidFill>
                  <a:srgbClr val="000000"/>
                </a:solidFill>
                <a:latin typeface="等线"/>
                <a:ea typeface="等线"/>
              </a:rPr>
              <a:t>：多数工作只覆盖云或边；少数覆盖全连续体的，又只支持单一资源类型——</a:t>
            </a:r>
            <a:r>
              <a:rPr sz="1700" b="0">
                <a:solidFill>
                  <a:srgbClr val="FF0000"/>
                </a:solidFill>
                <a:latin typeface="等线"/>
                <a:ea typeface="等线"/>
              </a:rPr>
              <a:t>异构平台的优势根本用不上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984687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000000"/>
                </a:solidFill>
                <a:latin typeface="等线"/>
                <a:ea typeface="等线"/>
              </a:rPr>
              <a:t>研究方法（一）：总体架构</a:t>
            </a:r>
          </a:p>
        </p:txBody>
      </p:sp>
      <p:pic>
        <p:nvPicPr>
          <p:cNvPr id="3" name="Picture 2" descr="fig1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314833"/>
            <a:ext cx="7635240" cy="3343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6032" y="5695310"/>
            <a:ext cx="7635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等线"/>
                <a:ea typeface="等线"/>
              </a:rPr>
              <a:t>Fig. 1  架构设计（原论文）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1" y="1572768"/>
            <a:ext cx="3611880" cy="463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等线"/>
                <a:ea typeface="等线"/>
              </a:rPr>
              <a:t>定位</a:t>
            </a:r>
            <a:r>
              <a:rPr sz="1600" b="0">
                <a:solidFill>
                  <a:srgbClr val="000000"/>
                </a:solidFill>
                <a:latin typeface="等线"/>
                <a:ea typeface="等线"/>
              </a:rPr>
              <a:t>：跑在 K8s 之上的资源管理器，四层解耦，用一套 API 管理多云多平台资源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等线"/>
                <a:ea typeface="等线"/>
              </a:rPr>
              <a:t>持久层</a:t>
            </a:r>
            <a:r>
              <a:rPr sz="1600" b="0">
                <a:solidFill>
                  <a:srgbClr val="000000"/>
                </a:solidFill>
                <a:latin typeface="等线"/>
                <a:ea typeface="等线"/>
              </a:rPr>
              <a:t>：PostgreSQL 存用户数据与资源/服务/函数元数据，仅核心层可访问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等线"/>
                <a:ea typeface="等线"/>
              </a:rPr>
              <a:t>核心层</a:t>
            </a:r>
            <a:r>
              <a:rPr sz="1600" b="0">
                <a:solidFill>
                  <a:srgbClr val="000000"/>
                </a:solidFill>
                <a:latin typeface="等线"/>
                <a:ea typeface="等线"/>
              </a:rPr>
              <a:t>：Eclipse Vert.x 响应式框架，7 个 Vertex 经 Event Bus 以发布订阅、点对点、请求响应通信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等线"/>
                <a:ea typeface="等线"/>
              </a:rPr>
              <a:t>监控层</a:t>
            </a:r>
            <a:r>
              <a:rPr sz="1600" b="0">
                <a:solidFill>
                  <a:srgbClr val="000000"/>
                </a:solidFill>
                <a:latin typeface="等线"/>
                <a:ea typeface="等线"/>
              </a:rPr>
              <a:t>：VictoriaMetrics + MetricsQL（PromQL 超集），支持拉取与推送、长期存储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等线"/>
                <a:ea typeface="等线"/>
              </a:rPr>
              <a:t>GUI 层</a:t>
            </a:r>
            <a:r>
              <a:rPr sz="1600" b="0">
                <a:solidFill>
                  <a:srgbClr val="000000"/>
                </a:solidFill>
                <a:latin typeface="等线"/>
                <a:ea typeface="等线"/>
              </a:rPr>
              <a:t>：React / Next.js + Ant Design，内嵌 Grafana 看板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984687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000000"/>
                </a:solidFill>
                <a:latin typeface="等线"/>
                <a:ea typeface="等线"/>
              </a:rPr>
              <a:t>研究方法（二）：四个关键设计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36192"/>
            <a:ext cx="10984687" cy="659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3000" b="0">
                <a:solidFill>
                  <a:srgbClr val="000000"/>
                </a:solidFill>
                <a:latin typeface="等线"/>
                <a:ea typeface="等线"/>
              </a:rPr>
              <a:t>把“部署—监控—纠偏”做成</a:t>
            </a:r>
            <a:r>
              <a:rPr sz="3000" b="0">
                <a:solidFill>
                  <a:srgbClr val="FF0000"/>
                </a:solidFill>
                <a:latin typeface="等线"/>
                <a:ea typeface="等线"/>
              </a:rPr>
              <a:t>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42388"/>
            <a:ext cx="10984687" cy="40766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2400" b="1">
                <a:solidFill>
                  <a:srgbClr val="000000"/>
                </a:solidFill>
                <a:latin typeface="等线"/>
                <a:ea typeface="等线"/>
              </a:rPr>
              <a:t>① 统一抽象</a:t>
            </a:r>
            <a:r>
              <a:rPr sz="2400" b="0">
                <a:solidFill>
                  <a:srgbClr val="000000"/>
                </a:solidFill>
                <a:latin typeface="等线"/>
                <a:ea typeface="等线"/>
              </a:rPr>
              <a:t>：用 Terraform provider 屏蔽 K8s / OpenFaaS / Lambda / EC2 的差异，一次请求同时创建计算、网络与运行时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2400" b="1">
                <a:solidFill>
                  <a:srgbClr val="000000"/>
                </a:solidFill>
                <a:latin typeface="等线"/>
                <a:ea typeface="等线"/>
              </a:rPr>
              <a:t>② 部署提速</a:t>
            </a:r>
            <a:r>
              <a:rPr sz="2400" b="0">
                <a:solidFill>
                  <a:srgbClr val="000000"/>
                </a:solidFill>
                <a:latin typeface="等线"/>
                <a:ea typeface="等线"/>
              </a:rPr>
              <a:t>：预拉取镜像 + 常驻 tiny paused 容器，启停服务时</a:t>
            </a:r>
            <a:r>
              <a:rPr sz="2400" b="0">
                <a:solidFill>
                  <a:srgbClr val="FF0000"/>
                </a:solidFill>
                <a:latin typeface="等线"/>
                <a:ea typeface="等线"/>
              </a:rPr>
              <a:t>不再重复拉取镜像</a:t>
            </a:r>
            <a:r>
              <a:rPr sz="2400" b="0">
                <a:solidFill>
                  <a:srgbClr val="000000"/>
                </a:solidFill>
                <a:latin typeface="等线"/>
                <a:ea typeface="等线"/>
              </a:rPr>
              <a:t>，把冷启动成本压到最低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2400" b="1">
                <a:solidFill>
                  <a:srgbClr val="000000"/>
                </a:solidFill>
                <a:latin typeface="等线"/>
                <a:ea typeface="等线"/>
              </a:rPr>
              <a:t>③ 指标补齐</a:t>
            </a:r>
            <a:r>
              <a:rPr sz="2400" b="0">
                <a:solidFill>
                  <a:srgbClr val="000000"/>
                </a:solidFill>
                <a:latin typeface="等线"/>
                <a:ea typeface="等线"/>
              </a:rPr>
              <a:t>：Monitoring Vertex 补采监控层拿不到的资源成本、区域时延与 K8s Metrics Server 指标，统一转成 OpenTSDB 对象写入 VictoriaMetrics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2400" b="1">
                <a:solidFill>
                  <a:srgbClr val="000000"/>
                </a:solidFill>
                <a:latin typeface="等线"/>
                <a:ea typeface="等线"/>
              </a:rPr>
              <a:t>④ SLO 闭环</a:t>
            </a:r>
            <a:r>
              <a:rPr sz="2400" b="0">
                <a:solidFill>
                  <a:srgbClr val="000000"/>
                </a:solidFill>
                <a:latin typeface="等线"/>
                <a:ea typeface="等线"/>
              </a:rPr>
              <a:t>：Alerting Vertex 周期校验资源真实状态，向客户端注册的 HTTP 端点推送告警，触发</a:t>
            </a:r>
            <a:r>
              <a:rPr sz="2400" b="0">
                <a:solidFill>
                  <a:srgbClr val="FF0000"/>
                </a:solidFill>
                <a:latin typeface="等线"/>
                <a:ea typeface="等线"/>
              </a:rPr>
              <a:t>重新分配资源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984687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000000"/>
                </a:solidFill>
                <a:latin typeface="等线"/>
                <a:ea typeface="等线"/>
              </a:rPr>
              <a:t>实验设置</a:t>
            </a:r>
          </a:p>
        </p:txBody>
      </p:sp>
      <p:pic>
        <p:nvPicPr>
          <p:cNvPr id="3" name="Picture 2" descr="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886787"/>
            <a:ext cx="7406640" cy="21999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6032" y="5123356"/>
            <a:ext cx="7406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等线"/>
                <a:ea typeface="等线"/>
              </a:rPr>
              <a:t>Table 1  计算连续体测试床（原论文）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2711" y="1572768"/>
            <a:ext cx="3657600" cy="463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测试床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：边缘 3 节点（Intel NUC + 2×树莓派）、雾 7 节点 K8s 集群、云 AWS EC2 t2.large + Lambda（us-east-1 / us-west-2）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负载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：2 个 Python 函数（睡 1 s / 立即返回）+ 1 个 nginx 容器服务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指标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：部署/终止时延、响应时间、CPU 与内存占用、SLO 反应时间、函数调用 RTT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三组场景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：① 不同资源组合的部署开销 ② SLO 违约反应时间 ③ 384 并发下的调用 RTT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984687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000000"/>
                </a:solidFill>
                <a:latin typeface="等线"/>
                <a:ea typeface="等线"/>
              </a:rPr>
              <a:t>实验结果（一）：部署开销由资源类型决定</a:t>
            </a:r>
          </a:p>
        </p:txBody>
      </p:sp>
      <p:pic>
        <p:nvPicPr>
          <p:cNvPr id="3" name="Picture 2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573046"/>
            <a:ext cx="6903720" cy="2184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6032" y="3758183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等线"/>
                <a:ea typeface="等线"/>
              </a:rPr>
              <a:t>Fig. 2  平均部署与终止时间</a:t>
            </a:r>
          </a:p>
        </p:txBody>
      </p:sp>
      <p:pic>
        <p:nvPicPr>
          <p:cNvPr id="5" name="Picture 4" descr="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032504"/>
            <a:ext cx="6036516" cy="22219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" y="6236207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等线"/>
                <a:ea typeface="等线"/>
              </a:rPr>
              <a:t>Fig. 4  不同资源类型的 CPU 与内存占用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4072" y="1572768"/>
            <a:ext cx="3794760" cy="4846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OpenFaaS 最快，K8s 次之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：只需拉镜像并初始化容器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Lambda 明显更慢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：跨区网络 + 更复杂的初始化链路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EC2 最差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：启动 </a:t>
            </a:r>
            <a:r>
              <a:rPr sz="1800" b="0">
                <a:solidFill>
                  <a:srgbClr val="FF0000"/>
                </a:solidFill>
                <a:latin typeface="等线"/>
                <a:ea typeface="等线"/>
              </a:rPr>
              <a:t>~200 s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、终止 </a:t>
            </a:r>
            <a:r>
              <a:rPr sz="1800" b="0">
                <a:solidFill>
                  <a:srgbClr val="FF0000"/>
                </a:solidFill>
                <a:latin typeface="等线"/>
                <a:ea typeface="等线"/>
              </a:rPr>
              <a:t>~65 s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，因为要现装 OpenFaaS 与 Node Exporter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并发上升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：部署时间随之增加，终止时间基本不变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资源占用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：OpenFaaS / K8s 更轻；Lambda 与 EC2 更吃 CPU、内存（AWS provider 更重）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984687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000000"/>
                </a:solidFill>
                <a:latin typeface="等线"/>
                <a:ea typeface="等线"/>
              </a:rPr>
              <a:t>实验结果（二）：SLO 闭环快，开销几乎为零</a:t>
            </a:r>
          </a:p>
        </p:txBody>
      </p:sp>
      <p:pic>
        <p:nvPicPr>
          <p:cNvPr id="3" name="Picture 2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61" y="1554480"/>
            <a:ext cx="3896903" cy="269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70248"/>
            <a:ext cx="561578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等线"/>
                <a:ea typeface="等线"/>
              </a:rPr>
              <a:t>Fig. 5  SLO 违约反应时间</a:t>
            </a:r>
          </a:p>
        </p:txBody>
      </p:sp>
      <p:pic>
        <p:nvPicPr>
          <p:cNvPr id="5" name="Picture 4" descr="fi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189" y="1554480"/>
            <a:ext cx="3438584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1587" y="4270248"/>
            <a:ext cx="561578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等线"/>
                <a:ea typeface="等线"/>
              </a:rPr>
              <a:t>Fig. 6  函数调用往返时延（RTT）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44568"/>
            <a:ext cx="10509199" cy="18745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反应时间稳定在 0–5 s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，并发从 1 增到 4 几乎不变：违约能被快速发现，且不受部署负载影响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RTT 与 Python HTTP client 相当甚至更低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：管理器本身</a:t>
            </a:r>
            <a:r>
              <a:rPr sz="1800" b="0">
                <a:solidFill>
                  <a:srgbClr val="FF0000"/>
                </a:solidFill>
                <a:latin typeface="等线"/>
                <a:ea typeface="等线"/>
              </a:rPr>
              <a:t>几乎不引入额外开销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12 并发以上 EC2 与 OpenFaaS 的 RTT 抬升，受 CPU 核数限制；Lambda 按设计可弹性扩展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984687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000000"/>
                </a:solidFill>
                <a:latin typeface="等线"/>
                <a:ea typeface="等线"/>
              </a:rPr>
              <a:t>结论与不足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72768"/>
            <a:ext cx="524088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等线"/>
                <a:ea typeface="等线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29967"/>
            <a:ext cx="5240883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在 K8s 之上用 Vert.x 实现</a:t>
            </a:r>
            <a:r>
              <a:rPr sz="1800" b="0">
                <a:solidFill>
                  <a:srgbClr val="FF0000"/>
                </a:solidFill>
                <a:latin typeface="等线"/>
                <a:ea typeface="等线"/>
              </a:rPr>
              <a:t>跨云—雾—边的资源管理器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，把部署、监控、告警收敛到一套 API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四层解耦 + IaC，使同一份请求可落到 OpenFaaS / K8s / Lambda / EC2 四类资源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真实测试床验证：部署可自动化、SLO 违约可被发现，且</a:t>
            </a:r>
            <a:r>
              <a:rPr sz="1800" b="0">
                <a:solidFill>
                  <a:srgbClr val="FF0000"/>
                </a:solidFill>
                <a:latin typeface="等线"/>
                <a:ea typeface="等线"/>
              </a:rPr>
              <a:t>附加开销可忽略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5051" y="1572768"/>
            <a:ext cx="524088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等线"/>
                <a:ea typeface="等线"/>
              </a:rPr>
              <a:t>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5051" y="2029967"/>
            <a:ext cx="5240883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规模有限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：13 个资源、单集群，未做多租户与大规模压力测试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SLO 维度单一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：只验证时延类 SLO，未涉及吞吐、成本、可用性及其权衡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事后响应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：违约后才重调度，无预测式迁移，中断时长未量化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基线偏弱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：只与 Python HTTP client 比，未与同类连续体管理器端到端对比</a:t>
            </a:r>
          </a:p>
          <a:p>
            <a:pPr algn="l" marL="330200" indent="-330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等线"/>
                <a:ea typeface="等线"/>
              </a:rPr>
              <a:t>依赖 IaC</a:t>
            </a:r>
            <a:r>
              <a:rPr sz="1800" b="0">
                <a:solidFill>
                  <a:srgbClr val="000000"/>
                </a:solidFill>
                <a:latin typeface="等线"/>
                <a:ea typeface="等线"/>
              </a:rPr>
              <a:t>：EC2 200 s 的部署代价说明 provider 与镜像分发仍是瓶颈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